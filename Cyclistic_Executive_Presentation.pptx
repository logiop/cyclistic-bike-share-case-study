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Members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Annual Members</c:v>
                  </c:pt>
                  <c:pt idx="1">
                    <c:v>Casual Riders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11.4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 Riders</c:v>
                </c:pt>
              </c:strCache>
            </c:strRef>
          </c:tx>
          <c:spPr>
            <a:solidFill>
              <a:srgbClr val="FF7F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Annual Members</c:v>
                  </c:pt>
                  <c:pt idx="1">
                    <c:v>Casual Riders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36.5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12700" cap="flat">
              <a:solidFill>
                <a:srgbClr val="CCCCCC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Average Duration (minutes)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60178</c:v>
                </c:pt>
                <c:pt idx="1">
                  <c:v>110412</c:v>
                </c:pt>
                <c:pt idx="2">
                  <c:v>127946</c:v>
                </c:pt>
                <c:pt idx="3">
                  <c:v>121879</c:v>
                </c:pt>
                <c:pt idx="4">
                  <c:v>125198</c:v>
                </c:pt>
                <c:pt idx="5">
                  <c:v>115132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18578</c:v>
                </c:pt>
                <c:pt idx="1">
                  <c:v>6672</c:v>
                </c:pt>
                <c:pt idx="2">
                  <c:v>7949</c:v>
                </c:pt>
                <c:pt idx="3">
                  <c:v>8328</c:v>
                </c:pt>
                <c:pt idx="4">
                  <c:v>7729</c:v>
                </c:pt>
                <c:pt idx="5">
                  <c:v>8466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Day of Week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00"/>
          <c:min val="0"/>
        </c:scaling>
        <c:delete val="0"/>
        <c:axPos val="l"/>
        <c:majorGridlines>
          <c:spPr>
            <a:ln w="12700" cap="flat">
              <a:solidFill>
                <a:srgbClr val="CCCCCC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Number of Rides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C0504D"/>
            </a:solidFill>
            <a:ln w="381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6am</c:v>
                  </c:pt>
                  <c:pt idx="1">
                    <c:v>8am</c:v>
                  </c:pt>
                  <c:pt idx="2">
                    <c:v>10am</c:v>
                  </c:pt>
                  <c:pt idx="3">
                    <c:v>12pm</c:v>
                  </c:pt>
                  <c:pt idx="4">
                    <c:v>2pm</c:v>
                  </c:pt>
                  <c:pt idx="5">
                    <c:v>4pm</c:v>
                  </c:pt>
                  <c:pt idx="6">
                    <c:v>6pm</c:v>
                  </c:pt>
                  <c:pt idx="7">
                    <c:v>8pm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15000</c:v>
                </c:pt>
                <c:pt idx="1">
                  <c:v>65000</c:v>
                </c:pt>
                <c:pt idx="2">
                  <c:v>25000</c:v>
                </c:pt>
                <c:pt idx="3">
                  <c:v>30000</c:v>
                </c:pt>
                <c:pt idx="4">
                  <c:v>35000</c:v>
                </c:pt>
                <c:pt idx="5">
                  <c:v>55000</c:v>
                </c:pt>
                <c:pt idx="6">
                  <c:v>70000</c:v>
                </c:pt>
                <c:pt idx="7">
                  <c:v>25000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 Riders</c:v>
                </c:pt>
              </c:strCache>
            </c:strRef>
          </c:tx>
          <c:spPr>
            <a:solidFill>
              <a:srgbClr val="4F81BD"/>
            </a:solidFill>
            <a:ln w="38100" cap="flat">
              <a:solidFill>
                <a:srgbClr val="4F81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6am</c:v>
                  </c:pt>
                  <c:pt idx="1">
                    <c:v>8am</c:v>
                  </c:pt>
                  <c:pt idx="2">
                    <c:v>10am</c:v>
                  </c:pt>
                  <c:pt idx="3">
                    <c:v>12pm</c:v>
                  </c:pt>
                  <c:pt idx="4">
                    <c:v>2pm</c:v>
                  </c:pt>
                  <c:pt idx="5">
                    <c:v>4pm</c:v>
                  </c:pt>
                  <c:pt idx="6">
                    <c:v>6pm</c:v>
                  </c:pt>
                  <c:pt idx="7">
                    <c:v>8pm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2000</c:v>
                </c:pt>
                <c:pt idx="1">
                  <c:v>5000</c:v>
                </c:pt>
                <c:pt idx="2">
                  <c:v>7000</c:v>
                </c:pt>
                <c:pt idx="3">
                  <c:v>9000</c:v>
                </c:pt>
                <c:pt idx="4">
                  <c:v>12000</c:v>
                </c:pt>
                <c:pt idx="5">
                  <c:v>11000</c:v>
                </c:pt>
                <c:pt idx="6">
                  <c:v>8000</c:v>
                </c:pt>
                <c:pt idx="7">
                  <c:v>5000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Hour of Day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CCCCC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Number of Rides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CYCLISTIC BIKE-SHARE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7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Members and Casual Riders Differ?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Lily Moreno, Director of Marketing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2019 &amp; Q1 2020 Data Analysis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Challenge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73152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1280160"/>
          </a:xfrm>
          <a:prstGeom prst="roundRect">
            <a:avLst/>
          </a:prstGeom>
          <a:solidFill>
            <a:srgbClr val="E8F4FC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2801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annual members and casual riders use Cyclistic bikes differently to design marketing strategies that convert casual riders into members.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3931920" cy="1097280"/>
          </a:xfrm>
          <a:prstGeom prst="roundRect">
            <a:avLst/>
          </a:prstGeom>
          <a:solidFill>
            <a:srgbClr val="FFF5E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606040"/>
            <a:ext cx="73152" cy="109728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members are significantly more profitable. Converting existing casual riders is more efficient than acquiring new customers.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3931920" cy="502920"/>
          </a:xfrm>
          <a:prstGeom prst="roundRect">
            <a:avLst/>
          </a:prstGeom>
          <a:solidFill>
            <a:srgbClr val="E8F4FC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How do members and casual riders use bikes differently?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194560"/>
            <a:ext cx="3931920" cy="50292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240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Why would casual riders buy annual memberships?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3931920" cy="50292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880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can digital media influence casual riders?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analysis focuses on Question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73152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2801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791,264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Rides Analyzed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60320" y="2560320"/>
            <a:ext cx="1828800" cy="1280160"/>
          </a:xfrm>
          <a:prstGeom prst="round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2697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560320" y="3246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Members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720,126 rides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560320"/>
            <a:ext cx="1828800" cy="1280160"/>
          </a:xfrm>
          <a:prstGeom prst="roundRect">
            <a:avLst/>
          </a:prstGeom>
          <a:solidFill>
            <a:srgbClr val="FF7F0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697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 Riders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71,138 rides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4023360"/>
            <a:ext cx="4937760" cy="45720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4023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 Divvy Q1 2019 (365K rides) + Q1 2020 (427K rides)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provided by Motivate International Inc. under public license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#1: Ride Duration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73152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200400" cy="1463040"/>
          </a:xfrm>
          <a:prstGeom prst="roundRect">
            <a:avLst/>
          </a:prstGeom>
          <a:solidFill>
            <a:srgbClr val="FF7F0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 riders ride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than members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228600" cy="228600"/>
          </a:xfrm>
          <a:prstGeom prst="roundRect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Members: 11.4 min average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228600" cy="228600"/>
          </a:xfrm>
          <a:prstGeom prst="roundRect">
            <a:avLst/>
          </a:prstGeom>
          <a:solidFill>
            <a:srgbClr val="FF7F0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17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Casual: 36.5 min average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3200400" cy="822960"/>
          </a:xfrm>
          <a:prstGeom prst="roundRect">
            <a:avLst/>
          </a:prstGeom>
          <a:solidFill>
            <a:srgbClr val="E8F4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747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Members use bikes for quick, efficient trips (commuting), while casual riders take extended leisure trips.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931920" y="109728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791,264 rides from Q1 2019-2020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#2: Weekly Patterns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73152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2926080" cy="1005840"/>
          </a:xfrm>
          <a:prstGeom prst="round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 Focus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usage Tue-Thu. Classic commute pattern.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926080" cy="1005840"/>
          </a:xfrm>
          <a:prstGeom prst="roundRect">
            <a:avLst/>
          </a:prstGeom>
          <a:solidFill>
            <a:srgbClr val="FF7F0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 RIDERS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Surge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rides spike. Leisure-oriented usage.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2926080" cy="82296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337560"/>
            <a:ext cx="73152" cy="8229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29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Different user types have fundamentally different usage motivations and schedules.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657600" y="10515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 = Monday-Friday, Weekend = Saturday-Sunday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#3: Hourly Patterns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73152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2926080" cy="1371600"/>
          </a:xfrm>
          <a:prstGeom prst="roundRect">
            <a:avLst/>
          </a:prstGeom>
          <a:solidFill>
            <a:srgbClr val="E8F4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MEMBERS: COMMUTE PEAKS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188720" cy="777240"/>
          </a:xfrm>
          <a:prstGeom prst="round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rush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1463040"/>
            <a:ext cx="1188720" cy="777240"/>
          </a:xfrm>
          <a:prstGeom prst="round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1554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20240" y="1920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 rush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2926080" cy="1097280"/>
          </a:xfrm>
          <a:prstGeom prst="roundRect">
            <a:avLst/>
          </a:prstGeom>
          <a:solidFill>
            <a:srgbClr val="FFF5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51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CASUAL: AFTERNOON LEISURE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2560320" cy="594360"/>
          </a:xfrm>
          <a:prstGeom prst="roundRect">
            <a:avLst/>
          </a:prstGeom>
          <a:solidFill>
            <a:srgbClr val="FF7F0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PM Peak Activity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2926080" cy="64008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0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confirms: Members integrate cycling into work routine. Casual riders treat it as recreation.</a:t>
            </a:r>
            <a:endParaRPr lang="en-US" sz="10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657600" y="10515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lines indicate typical commute hours (8AM, 5PM)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Recommendations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91440"/>
          </a:xfrm>
          <a:prstGeom prst="roundRect">
            <a:avLst/>
          </a:prstGeom>
          <a:solidFill>
            <a:srgbClr val="FF7F0E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234440"/>
            <a:ext cx="2743200" cy="3291840"/>
          </a:xfrm>
          <a:prstGeom prst="roundRect">
            <a:avLst/>
          </a:prstGeom>
          <a:solidFill>
            <a:srgbClr val="16385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2743200" cy="3291840"/>
          </a:xfrm>
          <a:prstGeom prst="roundRect">
            <a:avLst/>
          </a:prstGeom>
          <a:solidFill>
            <a:srgbClr val="1F4E7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502920" cy="502920"/>
          </a:xfrm>
          <a:prstGeom prst="roundRect">
            <a:avLst/>
          </a:prstGeom>
          <a:solidFill>
            <a:srgbClr val="FF7F0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898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4447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Membership Promos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casual riders with special weekend offers showing cost savings for frequent weekend users.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657600"/>
            <a:ext cx="2468880" cy="640080"/>
          </a:xfrm>
          <a:prstGeom prst="roundRect">
            <a:avLst/>
          </a:prstGeom>
          <a:solidFill>
            <a:srgbClr val="16385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Casual riders surge on weekends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2743200" cy="3291840"/>
          </a:xfrm>
          <a:prstGeom prst="roundRect">
            <a:avLst/>
          </a:prstGeom>
          <a:solidFill>
            <a:srgbClr val="1F4E79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1188720"/>
            <a:ext cx="2743200" cy="3291840"/>
          </a:xfrm>
          <a:prstGeom prst="roundRect">
            <a:avLst/>
          </a:prstGeom>
          <a:solidFill>
            <a:srgbClr val="2E75B6"/>
          </a:solidFill>
          <a:ln/>
        </p:spPr>
      </p:sp>
      <p:sp>
        <p:nvSpPr>
          <p:cNvPr id="15" name="Shape 13"/>
          <p:cNvSpPr/>
          <p:nvPr/>
        </p:nvSpPr>
        <p:spPr>
          <a:xfrm>
            <a:off x="3429000" y="1371600"/>
            <a:ext cx="502920" cy="502920"/>
          </a:xfrm>
          <a:prstGeom prst="roundRect">
            <a:avLst/>
          </a:prstGeom>
          <a:solidFill>
            <a:srgbClr val="FF7F0E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3898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023360" y="14447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011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Commuter Program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29000" y="26060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businesses to offer membership as employee benefit for eco-friendly commuting.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3657600"/>
            <a:ext cx="2468880" cy="640080"/>
          </a:xfrm>
          <a:prstGeom prst="roundRect">
            <a:avLst/>
          </a:prstGeom>
          <a:solidFill>
            <a:srgbClr val="1F4E79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Members show clear commute patterns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1234440"/>
            <a:ext cx="2743200" cy="3291840"/>
          </a:xfrm>
          <a:prstGeom prst="roundRect">
            <a:avLst/>
          </a:prstGeom>
          <a:solidFill>
            <a:srgbClr val="E56B00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1188720"/>
            <a:ext cx="2743200" cy="3291840"/>
          </a:xfrm>
          <a:prstGeom prst="roundRect">
            <a:avLst/>
          </a:prstGeom>
          <a:solidFill>
            <a:srgbClr val="FF7F0E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1371600"/>
            <a:ext cx="502920" cy="502920"/>
          </a:xfrm>
          <a:prstGeom prst="roundRect">
            <a:avLst/>
          </a:prstGeom>
          <a:solidFill>
            <a:srgbClr val="1F4E79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3898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3720" y="14447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011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Cost Calculator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9360" y="26060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tool showing personalized savings based on actual casual rider usage patterns.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3657600"/>
            <a:ext cx="2468880" cy="640080"/>
          </a:xfrm>
          <a:prstGeom prst="roundRect">
            <a:avLst/>
          </a:prstGeom>
          <a:solidFill>
            <a:srgbClr val="E56B00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Casual riders pay more per minute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based on behavioral analysis of 791K rides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3657600" cy="3657600"/>
          </a:xfrm>
          <a:prstGeom prst="ellipse">
            <a:avLst/>
          </a:prstGeom>
          <a:solidFill>
            <a:srgbClr val="FF7F0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FF7F0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731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1051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Clear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097280" y="1828800"/>
            <a:ext cx="6949440" cy="10972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9202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 riders are engaged users who spend 3x more time per ride than members.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3774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already love the service. Show them the value of membership.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3063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7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71K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164592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 riders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3977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convert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3200400"/>
            <a:ext cx="18288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3063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7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20624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rides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6240" y="3977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more value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200400"/>
            <a:ext cx="18288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063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7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676656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3977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43434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0" y="4709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Contact the Marketing Analytics Team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Bike-Share Case Study</dc:title>
  <dc:subject>How Do Annual Members and Casual Riders Use Cyclistic Bikes Differently?</dc:subject>
  <dc:creator>Cyclistic Marketing Analytics Team</dc:creator>
  <cp:lastModifiedBy>Cyclistic Marketing Analytics Team</cp:lastModifiedBy>
  <cp:revision>1</cp:revision>
  <dcterms:created xsi:type="dcterms:W3CDTF">2026-01-31T18:39:53Z</dcterms:created>
  <dcterms:modified xsi:type="dcterms:W3CDTF">2026-01-31T18:39:53Z</dcterms:modified>
</cp:coreProperties>
</file>